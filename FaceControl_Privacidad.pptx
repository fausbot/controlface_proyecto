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4" r:id="rId4"/>
    <p:sldId id="265" r:id="rId5"/>
    <p:sldId id="266" r:id="rId6"/>
    <p:sldId id="258" r:id="rId7"/>
    <p:sldId id="259" r:id="rId8"/>
    <p:sldId id="260" r:id="rId9"/>
    <p:sldId id="261" r:id="rId10"/>
    <p:sldId id="262" r:id="rId11"/>
    <p:sldId id="263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118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2795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B72A3-378C-6816-5C6D-F4E1DC94E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4C055-4177-154F-1EB2-B25E0072AB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CFD304-2BFE-CABB-C6DA-83A1919E8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B0CB6-7FEE-DEB9-EEB9-52831F78D2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2791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D369D-D437-B2E5-E0D5-C3FC07922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E5879F-FB58-8557-A45C-B2C2595F30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FCC3AB-0DDC-02ED-503D-6A57A1247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592F6-0F59-1130-9E4E-74C1FD5981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030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4CB71-7604-53F4-C7DC-60DC90C21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7FBFE9-65E8-D3D4-87B7-3D7B49475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03074A-3A0E-01CA-5419-4EF53A6C0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3CD01-7AC0-C1F1-016A-454A4A3AE7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4949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royecto-controlface-cliente.web.app/privacidad" TargetMode="External"/><Relationship Id="rId5" Type="http://schemas.openxmlformats.org/officeDocument/2006/relationships/slide" Target="slide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royecto-controlface-cliente.web.app/privacidad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3345" y="571500"/>
            <a:ext cx="365760" cy="365760"/>
          </a:xfrm>
          <a:prstGeom prst="rect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" name="Shape 1"/>
          <p:cNvSpPr/>
          <p:nvPr/>
        </p:nvSpPr>
        <p:spPr>
          <a:xfrm>
            <a:off x="8321040" y="4297680"/>
            <a:ext cx="365760" cy="365760"/>
          </a:xfrm>
          <a:prstGeom prst="rect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4800" b="1" noProof="0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Privacidad es Nuestra Prioridad</a:t>
            </a:r>
            <a:endParaRPr lang="es-ES" sz="48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3600" noProof="0" dirty="0">
                <a:solidFill>
                  <a:srgbClr val="5B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 </a:t>
            </a:r>
            <a:r>
              <a:rPr lang="es-ES" sz="3600" noProof="0" dirty="0" err="1">
                <a:solidFill>
                  <a:srgbClr val="5B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FaceControl</a:t>
            </a:r>
            <a:endParaRPr lang="es-ES" sz="3600" noProof="0" dirty="0"/>
          </a:p>
        </p:txBody>
      </p:sp>
      <p:sp>
        <p:nvSpPr>
          <p:cNvPr id="6" name="Shape 4"/>
          <p:cNvSpPr/>
          <p:nvPr/>
        </p:nvSpPr>
        <p:spPr>
          <a:xfrm>
            <a:off x="2743200" y="3108960"/>
            <a:ext cx="3657600" cy="45720"/>
          </a:xfrm>
          <a:prstGeom prst="rect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800" i="1" noProof="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Transparencia, seguridad de datos y respeto por tu dispositivo personal</a:t>
            </a:r>
            <a:endParaRPr lang="es-ES" sz="18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3366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32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proceso de marcaje: Simple y Transparente</a:t>
            </a:r>
            <a:endParaRPr lang="es-ES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000" b="1" noProof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s-ES" sz="2000" noProof="0" dirty="0"/>
          </a:p>
        </p:txBody>
      </p:sp>
      <p:sp>
        <p:nvSpPr>
          <p:cNvPr id="6" name="Text 4"/>
          <p:cNvSpPr/>
          <p:nvPr/>
        </p:nvSpPr>
        <p:spPr>
          <a:xfrm>
            <a:off x="1097280" y="13258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1600" b="1" noProof="0" dirty="0">
                <a:solidFill>
                  <a:srgbClr val="2E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registro inicial</a:t>
            </a:r>
            <a:endParaRPr lang="es-ES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1097280" y="16916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1200" noProof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toma una foto de tu rostro y crea un descriptor facial (128 puntos de referencia matemáticos)</a:t>
            </a:r>
            <a:endParaRPr lang="es-ES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457200" cy="457200"/>
          </a:xfrm>
          <a:prstGeom prst="ellipse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000" b="1" noProof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s-ES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1097280" y="21945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1600" b="1" noProof="0" dirty="0">
                <a:solidFill>
                  <a:srgbClr val="2E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marcaje diario</a:t>
            </a:r>
            <a:endParaRPr lang="es-ES" sz="1600" noProof="0" dirty="0"/>
          </a:p>
        </p:txBody>
      </p:sp>
      <p:sp>
        <p:nvSpPr>
          <p:cNvPr id="11" name="Text 9"/>
          <p:cNvSpPr/>
          <p:nvPr/>
        </p:nvSpPr>
        <p:spPr>
          <a:xfrm>
            <a:off x="1097280" y="25603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1200" noProof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llegar, abres la app y te tomas una foto instantánea</a:t>
            </a:r>
            <a:endParaRPr lang="es-ES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000" b="1" noProof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s-ES" sz="2000" noProof="0" dirty="0"/>
          </a:p>
        </p:txBody>
      </p:sp>
      <p:sp>
        <p:nvSpPr>
          <p:cNvPr id="14" name="Text 12"/>
          <p:cNvSpPr/>
          <p:nvPr/>
        </p:nvSpPr>
        <p:spPr>
          <a:xfrm>
            <a:off x="1097280" y="30632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1600" b="1" noProof="0" dirty="0">
                <a:solidFill>
                  <a:srgbClr val="2E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captura de datos</a:t>
            </a:r>
            <a:endParaRPr lang="es-ES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1097280" y="34290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1200" noProof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detecta hora local y ubicación GPS, estampando esta información en tu foto</a:t>
            </a:r>
            <a:endParaRPr lang="es-ES" sz="1200" noProof="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457200" cy="457200"/>
          </a:xfrm>
          <a:prstGeom prst="ellipse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7" name="Text 15"/>
          <p:cNvSpPr/>
          <p:nvPr/>
        </p:nvSpPr>
        <p:spPr>
          <a:xfrm>
            <a:off x="45720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000" b="1" noProof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s-ES" sz="2000" noProof="0" dirty="0"/>
          </a:p>
        </p:txBody>
      </p:sp>
      <p:sp>
        <p:nvSpPr>
          <p:cNvPr id="18" name="Text 16"/>
          <p:cNvSpPr/>
          <p:nvPr/>
        </p:nvSpPr>
        <p:spPr>
          <a:xfrm>
            <a:off x="1097280" y="39319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1600" b="1" noProof="0" dirty="0">
                <a:solidFill>
                  <a:srgbClr val="2E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del proceso</a:t>
            </a:r>
            <a:endParaRPr lang="es-ES" sz="1600" noProof="0" dirty="0"/>
          </a:p>
        </p:txBody>
      </p:sp>
      <p:sp>
        <p:nvSpPr>
          <p:cNvPr id="19" name="Text 17"/>
          <p:cNvSpPr/>
          <p:nvPr/>
        </p:nvSpPr>
        <p:spPr>
          <a:xfrm>
            <a:off x="1097280" y="42976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1200" noProof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foto se envía a nuestros servidores. No hay seguimiento posterior</a:t>
            </a:r>
            <a:endParaRPr lang="es-ES" sz="1200" noProof="0" dirty="0"/>
          </a:p>
        </p:txBody>
      </p:sp>
      <p:sp>
        <p:nvSpPr>
          <p:cNvPr id="20" name="Shape 2">
            <a:hlinkClick r:id="rId3" action="ppaction://hlinksldjump"/>
            <a:extLst>
              <a:ext uri="{FF2B5EF4-FFF2-40B4-BE49-F238E27FC236}">
                <a16:creationId xmlns:a16="http://schemas.microsoft.com/office/drawing/2014/main" id="{637A3BC0-14CF-1023-283E-CD2A76278D11}"/>
              </a:ext>
            </a:extLst>
          </p:cNvPr>
          <p:cNvSpPr/>
          <p:nvPr/>
        </p:nvSpPr>
        <p:spPr>
          <a:xfrm>
            <a:off x="8299704" y="4384772"/>
            <a:ext cx="457200" cy="457200"/>
          </a:xfrm>
          <a:prstGeom prst="ellipse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s-ES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29D075-82C9-A5E9-A210-D8D431E4A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E451B62-F586-306F-CBC9-FB5810C31EF8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3366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0675F3F-EE21-2F4D-B235-38AA9654926E}"/>
              </a:ext>
            </a:extLst>
          </p:cNvPr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32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proceso de marcaje: Simple y Transparente</a:t>
            </a:r>
            <a:endParaRPr lang="es-ES" sz="3200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6DE6037-776E-4BD0-5444-CF9AC6D480CC}"/>
              </a:ext>
            </a:extLst>
          </p:cNvPr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C8777DF-65B8-1451-11B1-32F0D60E6A8F}"/>
              </a:ext>
            </a:extLst>
          </p:cNvPr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000" b="1" noProof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s-ES" sz="2000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AAF5B5E-3DA8-5C3C-2133-F994E2E39978}"/>
              </a:ext>
            </a:extLst>
          </p:cNvPr>
          <p:cNvSpPr/>
          <p:nvPr/>
        </p:nvSpPr>
        <p:spPr>
          <a:xfrm>
            <a:off x="1097280" y="13258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1600" b="1" noProof="0" dirty="0">
                <a:solidFill>
                  <a:srgbClr val="2E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registro inicial</a:t>
            </a:r>
            <a:endParaRPr lang="es-ES" sz="1600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7FB92FE-F223-A58F-BC68-8617842EA632}"/>
              </a:ext>
            </a:extLst>
          </p:cNvPr>
          <p:cNvSpPr/>
          <p:nvPr/>
        </p:nvSpPr>
        <p:spPr>
          <a:xfrm>
            <a:off x="1097280" y="16916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1200" noProof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toma una foto de tu rostro y crea un descriptor facial (128 puntos de referencia matemáticos)</a:t>
            </a:r>
            <a:endParaRPr lang="es-ES" sz="1200" noProof="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409AFAA-9C8C-5D47-73D3-AC8349FC2989}"/>
              </a:ext>
            </a:extLst>
          </p:cNvPr>
          <p:cNvSpPr/>
          <p:nvPr/>
        </p:nvSpPr>
        <p:spPr>
          <a:xfrm>
            <a:off x="45720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s-ES" sz="2000" noProof="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9AF99D19-0BC5-24C5-596A-AAB6D236D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299" y="2057400"/>
            <a:ext cx="1817169" cy="2948940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F8C37771-E5ED-CF78-FB8E-89AAD4AFEB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7376" y="2282091"/>
            <a:ext cx="3232316" cy="1924149"/>
          </a:xfrm>
          <a:prstGeom prst="rect">
            <a:avLst/>
          </a:prstGeom>
        </p:spPr>
      </p:pic>
      <p:sp>
        <p:nvSpPr>
          <p:cNvPr id="28" name="Shape 2">
            <a:hlinkClick r:id="rId5" action="ppaction://hlinksldjump"/>
            <a:extLst>
              <a:ext uri="{FF2B5EF4-FFF2-40B4-BE49-F238E27FC236}">
                <a16:creationId xmlns:a16="http://schemas.microsoft.com/office/drawing/2014/main" id="{65B4F0EF-2B0B-38AC-92E7-F5029FB28341}"/>
              </a:ext>
            </a:extLst>
          </p:cNvPr>
          <p:cNvSpPr/>
          <p:nvPr/>
        </p:nvSpPr>
        <p:spPr>
          <a:xfrm>
            <a:off x="6050280" y="4339491"/>
            <a:ext cx="457200" cy="457200"/>
          </a:xfrm>
          <a:prstGeom prst="ellipse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9" name="Flecha: hacia la izquierda 28">
            <a:hlinkClick r:id="rId6"/>
            <a:extLst>
              <a:ext uri="{FF2B5EF4-FFF2-40B4-BE49-F238E27FC236}">
                <a16:creationId xmlns:a16="http://schemas.microsoft.com/office/drawing/2014/main" id="{D2E625F2-FE8C-50D3-5F92-2947C22CCCE6}"/>
              </a:ext>
            </a:extLst>
          </p:cNvPr>
          <p:cNvSpPr/>
          <p:nvPr/>
        </p:nvSpPr>
        <p:spPr>
          <a:xfrm>
            <a:off x="7360701" y="2295475"/>
            <a:ext cx="1042416" cy="55254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2133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081AA1-5D0B-9507-02D7-1A8CA0FFB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44B5709-04D4-3C61-3FB9-190DE40F3121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3366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6E9C92-26A5-F7D0-C26A-57858952A8C8}"/>
              </a:ext>
            </a:extLst>
          </p:cNvPr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32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proceso de marcaje: Simple y Transparente</a:t>
            </a:r>
            <a:endParaRPr lang="es-ES" sz="3200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4CD658D-E4D3-9181-0CF0-E78E6037C898}"/>
              </a:ext>
            </a:extLst>
          </p:cNvPr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DD5A4F0-7F88-E020-D5FC-C9CB13BCA3AC}"/>
              </a:ext>
            </a:extLst>
          </p:cNvPr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000" b="1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2</a:t>
            </a:r>
            <a:endParaRPr lang="es-ES" sz="2000" noProof="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6EFCC0B-87D3-C7DF-74AF-6038D6853059}"/>
              </a:ext>
            </a:extLst>
          </p:cNvPr>
          <p:cNvSpPr/>
          <p:nvPr/>
        </p:nvSpPr>
        <p:spPr>
          <a:xfrm>
            <a:off x="45720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s-ES" sz="2000" noProof="0" dirty="0"/>
          </a:p>
        </p:txBody>
      </p:sp>
      <p:sp>
        <p:nvSpPr>
          <p:cNvPr id="28" name="Shape 2">
            <a:hlinkClick r:id="rId3" action="ppaction://hlinksldjump"/>
            <a:extLst>
              <a:ext uri="{FF2B5EF4-FFF2-40B4-BE49-F238E27FC236}">
                <a16:creationId xmlns:a16="http://schemas.microsoft.com/office/drawing/2014/main" id="{F9A73673-99B4-736A-9827-40DDCB507ECB}"/>
              </a:ext>
            </a:extLst>
          </p:cNvPr>
          <p:cNvSpPr/>
          <p:nvPr/>
        </p:nvSpPr>
        <p:spPr>
          <a:xfrm>
            <a:off x="8299704" y="4384772"/>
            <a:ext cx="457200" cy="457200"/>
          </a:xfrm>
          <a:prstGeom prst="ellipse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614C7EC2-1D3E-03D9-49B4-06E9F07EAC9B}"/>
              </a:ext>
            </a:extLst>
          </p:cNvPr>
          <p:cNvSpPr/>
          <p:nvPr/>
        </p:nvSpPr>
        <p:spPr>
          <a:xfrm>
            <a:off x="1097280" y="13944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1600" b="1" noProof="0" dirty="0">
                <a:solidFill>
                  <a:srgbClr val="2E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marcaje diario</a:t>
            </a:r>
            <a:endParaRPr lang="es-ES" sz="1600" noProof="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1A2A803C-9BD7-92FE-1612-C8EDEF424E70}"/>
              </a:ext>
            </a:extLst>
          </p:cNvPr>
          <p:cNvSpPr/>
          <p:nvPr/>
        </p:nvSpPr>
        <p:spPr>
          <a:xfrm>
            <a:off x="1097280" y="1619151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1200" noProof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llegar, abres la app y te tomas una foto instantánea</a:t>
            </a:r>
            <a:endParaRPr lang="es-ES" sz="1200" noProof="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21EFD21-E989-C358-70EA-EE18532C7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076351"/>
            <a:ext cx="2148537" cy="276562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7989922-81A8-4BE9-A332-08D0ABC0B2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5817" y="2076350"/>
            <a:ext cx="2285514" cy="2765622"/>
          </a:xfrm>
          <a:prstGeom prst="rect">
            <a:avLst/>
          </a:prstGeom>
        </p:spPr>
      </p:pic>
      <p:sp>
        <p:nvSpPr>
          <p:cNvPr id="14" name="AutoShape 2" descr=", generada por IA">
            <a:extLst>
              <a:ext uri="{FF2B5EF4-FFF2-40B4-BE49-F238E27FC236}">
                <a16:creationId xmlns:a16="http://schemas.microsoft.com/office/drawing/2014/main" id="{E9FE40F3-9E27-B9EC-F57F-C110AE6C29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00033DAA-6BEF-8CE6-F279-641D3D7F73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8183" y="2076350"/>
            <a:ext cx="2134201" cy="276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205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FCC142-9963-ABAB-8CF7-2243658AA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2EC2442-4EF6-31EE-61F3-69AFDA1083F5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3366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BD81748-0356-41B4-6AF2-6BF8A3A1C5C5}"/>
              </a:ext>
            </a:extLst>
          </p:cNvPr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32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proceso de marcaje: Simple y Transparente</a:t>
            </a:r>
            <a:endParaRPr lang="es-ES" sz="3200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35FE14F-A690-BEE5-2C16-0889CC501066}"/>
              </a:ext>
            </a:extLst>
          </p:cNvPr>
          <p:cNvSpPr/>
          <p:nvPr/>
        </p:nvSpPr>
        <p:spPr>
          <a:xfrm>
            <a:off x="402336" y="2778915"/>
            <a:ext cx="457200" cy="457200"/>
          </a:xfrm>
          <a:prstGeom prst="ellipse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C566381-6974-24A2-7BBF-6B74F61AA5C7}"/>
              </a:ext>
            </a:extLst>
          </p:cNvPr>
          <p:cNvSpPr/>
          <p:nvPr/>
        </p:nvSpPr>
        <p:spPr>
          <a:xfrm>
            <a:off x="338328" y="276987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s-ES" sz="2000" noProof="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F4767D6B-819F-2D5E-D3DB-1555ABB8E427}"/>
              </a:ext>
            </a:extLst>
          </p:cNvPr>
          <p:cNvSpPr/>
          <p:nvPr/>
        </p:nvSpPr>
        <p:spPr>
          <a:xfrm>
            <a:off x="978408" y="279273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1600" b="1" noProof="0" dirty="0">
                <a:solidFill>
                  <a:srgbClr val="2E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Donde ver la información de privacidad</a:t>
            </a:r>
            <a:endParaRPr lang="es-ES" sz="1600" noProof="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80CDA00A-1E62-5563-4617-1A83F51EADB5}"/>
              </a:ext>
            </a:extLst>
          </p:cNvPr>
          <p:cNvSpPr/>
          <p:nvPr/>
        </p:nvSpPr>
        <p:spPr>
          <a:xfrm>
            <a:off x="978408" y="3017421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1200" noProof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ingresar </a:t>
            </a:r>
            <a:r>
              <a:rPr lang="es-ES" sz="1200" noProof="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eln</a:t>
            </a:r>
            <a:r>
              <a:rPr lang="es-ES" sz="1200" noProof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pagina donde se ingresa la contraseña</a:t>
            </a:r>
            <a:endParaRPr lang="es-ES" sz="1200" noProof="0" dirty="0"/>
          </a:p>
        </p:txBody>
      </p:sp>
      <p:sp>
        <p:nvSpPr>
          <p:cNvPr id="14" name="AutoShape 2" descr=", generada por IA">
            <a:extLst>
              <a:ext uri="{FF2B5EF4-FFF2-40B4-BE49-F238E27FC236}">
                <a16:creationId xmlns:a16="http://schemas.microsoft.com/office/drawing/2014/main" id="{38F2FD1E-7538-B102-C342-DCFB3CABEB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00728" y="381762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1670AC49-4FF0-7404-24B1-B6F138EBA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733" y="1243486"/>
            <a:ext cx="2226772" cy="3668464"/>
          </a:xfrm>
          <a:prstGeom prst="rect">
            <a:avLst/>
          </a:prstGeom>
        </p:spPr>
      </p:pic>
      <p:sp>
        <p:nvSpPr>
          <p:cNvPr id="15" name="Flecha: hacia la izquierda 14">
            <a:hlinkClick r:id="rId4"/>
            <a:extLst>
              <a:ext uri="{FF2B5EF4-FFF2-40B4-BE49-F238E27FC236}">
                <a16:creationId xmlns:a16="http://schemas.microsoft.com/office/drawing/2014/main" id="{55734EFA-5469-FAAC-C31D-763E28839497}"/>
              </a:ext>
            </a:extLst>
          </p:cNvPr>
          <p:cNvSpPr/>
          <p:nvPr/>
        </p:nvSpPr>
        <p:spPr>
          <a:xfrm>
            <a:off x="7167866" y="4422549"/>
            <a:ext cx="1042416" cy="55254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44780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2800" b="1" noProof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es IMPOSIBLE que robemos tu información?</a:t>
            </a:r>
            <a:endParaRPr lang="es-ES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FF00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800" b="1" noProof="0" dirty="0">
                <a:solidFill>
                  <a:srgbClr val="2E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ventaja de una PWA (Aplicación Web Progresiva)</a:t>
            </a:r>
            <a:endParaRPr lang="es-ES" sz="1800" noProof="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s-ES" sz="1300" noProof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 aplicación funciona a través del navegador de internet, no es una app nativa tradicional, como </a:t>
            </a:r>
            <a:r>
              <a:rPr lang="es-ES" sz="1300" noProof="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Rappi</a:t>
            </a:r>
            <a:r>
              <a:rPr lang="es-ES" sz="1300" noProof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Didi y muchas más.</a:t>
            </a:r>
            <a:endParaRPr lang="es-ES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s-ES" sz="1300" noProof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navegador web actúa como un "guardián de seguridad" que controla qué puede hacer la app</a:t>
            </a:r>
            <a:endParaRPr lang="es-ES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s-ES" sz="1300" noProof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aplicación está completamente aislada y el teléfono bloquea físicamente cualquier intento no autorizado</a:t>
            </a:r>
            <a:endParaRPr lang="es-ES" sz="13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3366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28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Permisos: Mitos vs. Realidades</a:t>
            </a:r>
            <a:endParaRPr lang="es-ES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0FFF0"/>
          </a:solidFill>
          <a:ln w="25400">
            <a:solidFill>
              <a:srgbClr val="00FF00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600" b="1" noProof="0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LO QUE SÍ USAMOS</a:t>
            </a:r>
            <a:endParaRPr lang="es-ES" sz="1600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200" b="1" noProof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Cámara: </a:t>
            </a:r>
            <a:r>
              <a:rPr lang="es-ES" sz="1200" noProof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para la foto de asistencia</a:t>
            </a:r>
            <a:endParaRPr lang="es-ES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200" b="1" noProof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Ubicación GPS: </a:t>
            </a:r>
            <a:r>
              <a:rPr lang="es-ES" sz="1200" noProof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para registrar coordenadas en el momento de la foto</a:t>
            </a:r>
            <a:endParaRPr lang="es-ES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0F0"/>
          </a:solidFill>
          <a:ln w="25400">
            <a:solidFill>
              <a:srgbClr val="FF3333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9" name="Text 7"/>
          <p:cNvSpPr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600" b="1" noProof="0" dirty="0">
                <a:solidFill>
                  <a:srgbClr val="FF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LO QUE NUNCA HACEMOS</a:t>
            </a:r>
            <a:endParaRPr lang="es-ES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s-ES" sz="1100" noProof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accedemos a contactos, SMS o WhatsApp</a:t>
            </a:r>
            <a:endParaRPr lang="es-ES" sz="1100" noProof="0" dirty="0"/>
          </a:p>
        </p:txBody>
      </p:sp>
      <p:sp>
        <p:nvSpPr>
          <p:cNvPr id="11" name="Text 9"/>
          <p:cNvSpPr/>
          <p:nvPr/>
        </p:nvSpPr>
        <p:spPr>
          <a:xfrm>
            <a:off x="4937760" y="2286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s-ES" sz="1100" noProof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revisamos tu galería de fotos</a:t>
            </a:r>
            <a:endParaRPr lang="es-ES" sz="1100" noProof="0" dirty="0"/>
          </a:p>
        </p:txBody>
      </p:sp>
      <p:sp>
        <p:nvSpPr>
          <p:cNvPr id="12" name="Text 10"/>
          <p:cNvSpPr/>
          <p:nvPr/>
        </p:nvSpPr>
        <p:spPr>
          <a:xfrm>
            <a:off x="4937760" y="2880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s-ES" sz="1100" noProof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hacemos rastreo en segundo plano</a:t>
            </a:r>
            <a:endParaRPr lang="es-ES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4937760" y="3474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s-ES" sz="1100" noProof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accedemos a datos bancarios ni contraseñas </a:t>
            </a:r>
            <a:r>
              <a:rPr lang="es-ES" sz="1100" noProof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ningún tipo.</a:t>
            </a:r>
            <a:endParaRPr lang="es-ES" sz="11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3200" b="1" noProof="0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¿Dónde se guardan tus datos?</a:t>
            </a:r>
            <a:endParaRPr lang="es-E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1800" i="1" noProof="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de Google </a:t>
            </a:r>
            <a:r>
              <a:rPr lang="es-ES" sz="1800" i="1" noProof="0" dirty="0" err="1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</a:t>
            </a:r>
            <a:r>
              <a:rPr lang="es-ES" sz="1800" i="1" noProof="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Privada y Segura</a:t>
            </a:r>
            <a:endParaRPr lang="es-ES" sz="18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51760" cy="2560320"/>
          </a:xfrm>
          <a:prstGeom prst="rect">
            <a:avLst/>
          </a:prstGeom>
          <a:solidFill>
            <a:srgbClr val="2E3366"/>
          </a:solidFill>
          <a:ln w="25400">
            <a:solidFill>
              <a:srgbClr val="00FF00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400" b="1" noProof="0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de Clase Mundial</a:t>
            </a:r>
            <a:endParaRPr lang="es-ES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1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fotos y registros se almacenan en Google </a:t>
            </a:r>
            <a:r>
              <a:rPr lang="es-ES" sz="110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</a:t>
            </a:r>
            <a:r>
              <a:rPr lang="es-ES" sz="11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estándares internacionales</a:t>
            </a:r>
            <a:endParaRPr lang="es-ES" sz="1100" noProof="0" dirty="0"/>
          </a:p>
        </p:txBody>
      </p:sp>
      <p:sp>
        <p:nvSpPr>
          <p:cNvPr id="8" name="Shape 6"/>
          <p:cNvSpPr/>
          <p:nvPr/>
        </p:nvSpPr>
        <p:spPr>
          <a:xfrm>
            <a:off x="3383280" y="1645920"/>
            <a:ext cx="2651760" cy="2560320"/>
          </a:xfrm>
          <a:prstGeom prst="rect">
            <a:avLst/>
          </a:prstGeom>
          <a:solidFill>
            <a:srgbClr val="2E3366"/>
          </a:solidFill>
          <a:ln w="25400">
            <a:solidFill>
              <a:srgbClr val="00FF00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400" b="1" noProof="0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Encriptados</a:t>
            </a:r>
            <a:endParaRPr lang="es-ES" sz="1400" noProof="0" dirty="0"/>
          </a:p>
        </p:txBody>
      </p:sp>
      <p:sp>
        <p:nvSpPr>
          <p:cNvPr id="10" name="Text 8"/>
          <p:cNvSpPr/>
          <p:nvPr/>
        </p:nvSpPr>
        <p:spPr>
          <a:xfrm>
            <a:off x="3566160" y="237744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1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la información viaja y se guarda de forma encriptada bajo estándares modernos</a:t>
            </a:r>
            <a:endParaRPr lang="es-ES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6309360" y="1645920"/>
            <a:ext cx="2651760" cy="2560320"/>
          </a:xfrm>
          <a:prstGeom prst="rect">
            <a:avLst/>
          </a:prstGeom>
          <a:solidFill>
            <a:srgbClr val="2E3366"/>
          </a:solidFill>
          <a:ln w="25400">
            <a:solidFill>
              <a:srgbClr val="00FF00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2" name="Text 10"/>
          <p:cNvSpPr/>
          <p:nvPr/>
        </p:nvSpPr>
        <p:spPr>
          <a:xfrm>
            <a:off x="649224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400" b="1" noProof="0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Restringido</a:t>
            </a:r>
            <a:endParaRPr lang="es-ES" sz="1400" noProof="0" dirty="0"/>
          </a:p>
        </p:txBody>
      </p:sp>
      <p:sp>
        <p:nvSpPr>
          <p:cNvPr id="13" name="Text 11"/>
          <p:cNvSpPr/>
          <p:nvPr/>
        </p:nvSpPr>
        <p:spPr>
          <a:xfrm>
            <a:off x="6492240" y="237744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1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jefes directos y administración tienen acceso para generar reportes de nómina</a:t>
            </a:r>
            <a:endParaRPr lang="es-ES" sz="11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2800" b="1" noProof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Verificar los Permisos en Tu Dispositivo</a:t>
            </a:r>
            <a:endParaRPr lang="es-ES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393191" y="992886"/>
            <a:ext cx="7936229" cy="3657600"/>
          </a:xfrm>
          <a:prstGeom prst="rect">
            <a:avLst/>
          </a:prstGeom>
          <a:solidFill>
            <a:srgbClr val="F0F8FF"/>
          </a:solidFill>
          <a:ln w="25400">
            <a:solidFill>
              <a:srgbClr val="2E3366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2000" b="1" noProof="0" dirty="0">
                <a:solidFill>
                  <a:srgbClr val="2E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Android</a:t>
            </a:r>
            <a:endParaRPr lang="es-ES" sz="2000" noProof="0" dirty="0"/>
          </a:p>
        </p:txBody>
      </p:sp>
      <p:sp>
        <p:nvSpPr>
          <p:cNvPr id="6" name="Text 4"/>
          <p:cNvSpPr/>
          <p:nvPr/>
        </p:nvSpPr>
        <p:spPr>
          <a:xfrm>
            <a:off x="2761489" y="1100709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2000" noProof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del teléfono</a:t>
            </a:r>
            <a:endParaRPr lang="es-ES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750570" y="1515237"/>
            <a:ext cx="5659754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2000" i="1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→ </a:t>
            </a:r>
            <a:r>
              <a:rPr lang="es-MX" sz="2000" i="1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Abre la aplicación de Google Chrome</a:t>
            </a:r>
            <a:endParaRPr lang="es-ES" sz="2000" i="1" dirty="0">
              <a:solidFill>
                <a:srgbClr val="333333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0571" y="22631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2000" i="1" noProof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Configuración</a:t>
            </a:r>
            <a:endParaRPr lang="es-ES" sz="2000" noProof="0" dirty="0"/>
          </a:p>
        </p:txBody>
      </p:sp>
      <p:sp>
        <p:nvSpPr>
          <p:cNvPr id="9" name="Text 7"/>
          <p:cNvSpPr/>
          <p:nvPr/>
        </p:nvSpPr>
        <p:spPr>
          <a:xfrm>
            <a:off x="457200" y="2985897"/>
            <a:ext cx="7872219" cy="5276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2000" i="1" noProof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s-ES" sz="1600" i="1" noProof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</a:t>
            </a:r>
            <a:r>
              <a:rPr lang="es-ES" sz="16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Ubicación está la URL https://multi-servicios-6e45b.firebaseapp.com/</a:t>
            </a:r>
            <a:endParaRPr lang="es-ES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457199" y="3498533"/>
            <a:ext cx="7232904" cy="458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1600" i="1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→ Entra a </a:t>
            </a:r>
            <a:r>
              <a:rPr lang="es-ES" sz="1600" i="1" dirty="0" err="1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Camara</a:t>
            </a:r>
            <a:r>
              <a:rPr lang="es-ES" sz="1600" i="1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 está la URL https://multi-servicios-6e45b.firebaseapp.com/</a:t>
            </a:r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s-ES" sz="2000" noProof="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50D20620-210F-18C2-F3A6-6318F3FF8BAD}"/>
              </a:ext>
            </a:extLst>
          </p:cNvPr>
          <p:cNvSpPr/>
          <p:nvPr/>
        </p:nvSpPr>
        <p:spPr>
          <a:xfrm>
            <a:off x="750571" y="1900047"/>
            <a:ext cx="7405877" cy="3817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2000" i="1" noProof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s-MX" sz="2000" i="1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Toca los tres puntos verticales</a:t>
            </a:r>
            <a:endParaRPr lang="es-ES" sz="2000" i="1" dirty="0">
              <a:solidFill>
                <a:srgbClr val="333333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79E504EC-3933-AA07-2FFF-EDF603D62A4F}"/>
              </a:ext>
            </a:extLst>
          </p:cNvPr>
          <p:cNvSpPr/>
          <p:nvPr/>
        </p:nvSpPr>
        <p:spPr>
          <a:xfrm>
            <a:off x="731520" y="2638806"/>
            <a:ext cx="6272784" cy="2827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2000" i="1" noProof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Configuración de Sitios</a:t>
            </a:r>
            <a:endParaRPr lang="es-ES" sz="2000" noProof="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1129D6DE-FC54-2F55-9AD3-6995398D501D}"/>
              </a:ext>
            </a:extLst>
          </p:cNvPr>
          <p:cNvSpPr/>
          <p:nvPr/>
        </p:nvSpPr>
        <p:spPr>
          <a:xfrm>
            <a:off x="457198" y="3914775"/>
            <a:ext cx="8567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2000" i="1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→ </a:t>
            </a:r>
            <a:r>
              <a:rPr lang="es-ES" sz="1400" i="1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Entra a todos los demás NO aparece la URL https://multi-servicis 6e45b.firebaseapp.com/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822960"/>
          </a:xfrm>
          <a:prstGeom prst="rect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822960"/>
          </a:xfrm>
          <a:prstGeom prst="rect">
            <a:avLst/>
          </a:prstGeom>
          <a:solidFill>
            <a:srgbClr val="2E3366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28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Compromiso Ético y Legal</a:t>
            </a:r>
            <a:endParaRPr lang="es-ES" sz="28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ES" sz="1800" i="1" noProof="0" dirty="0">
                <a:solidFill>
                  <a:srgbClr val="2E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información no es un negocio</a:t>
            </a:r>
            <a:endParaRPr lang="es-ES" sz="1800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800" noProof="0" dirty="0">
                <a:solidFill>
                  <a:srgbClr val="000000"/>
                </a:solidFill>
              </a:rPr>
              <a:t>🔒</a:t>
            </a:r>
            <a:endParaRPr lang="es-ES" sz="2800" noProof="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b="1" noProof="0" dirty="0">
                <a:solidFill>
                  <a:srgbClr val="2E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Privacidad absoluta frente a terceros</a:t>
            </a:r>
            <a:endParaRPr lang="es-ES" sz="1400" noProof="0" dirty="0"/>
          </a:p>
        </p:txBody>
      </p:sp>
      <p:sp>
        <p:nvSpPr>
          <p:cNvPr id="8" name="Text 6"/>
          <p:cNvSpPr/>
          <p:nvPr/>
        </p:nvSpPr>
        <p:spPr>
          <a:xfrm>
            <a:off x="1280160" y="19659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200" noProof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Facebook, anunciantes y empresas externas NO tienen acceso a estos datos</a:t>
            </a:r>
            <a:endParaRPr lang="es-ES" sz="1200" noProof="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800" noProof="0" dirty="0">
                <a:solidFill>
                  <a:srgbClr val="000000"/>
                </a:solidFill>
              </a:rPr>
              <a:t>⚙️</a:t>
            </a:r>
            <a:endParaRPr lang="es-ES" sz="2800" noProof="0" dirty="0"/>
          </a:p>
        </p:txBody>
      </p:sp>
      <p:sp>
        <p:nvSpPr>
          <p:cNvPr id="10" name="Text 8"/>
          <p:cNvSpPr/>
          <p:nvPr/>
        </p:nvSpPr>
        <p:spPr>
          <a:xfrm>
            <a:off x="1280160" y="25603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b="1" noProof="0" dirty="0">
                <a:solidFill>
                  <a:srgbClr val="2E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total</a:t>
            </a:r>
            <a:endParaRPr lang="es-ES" sz="1400" noProof="0" dirty="0"/>
          </a:p>
        </p:txBody>
      </p:sp>
      <p:sp>
        <p:nvSpPr>
          <p:cNvPr id="11" name="Text 9"/>
          <p:cNvSpPr/>
          <p:nvPr/>
        </p:nvSpPr>
        <p:spPr>
          <a:xfrm>
            <a:off x="1280160" y="29718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200" noProof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base de datos es administrada exclusivamente por su empresa empleadora</a:t>
            </a:r>
            <a:endParaRPr lang="es-ES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800" noProof="0" dirty="0">
                <a:solidFill>
                  <a:srgbClr val="000000"/>
                </a:solidFill>
              </a:rPr>
              <a:t>📋</a:t>
            </a:r>
            <a:endParaRPr lang="es-ES" sz="2800" noProof="0" dirty="0"/>
          </a:p>
        </p:txBody>
      </p:sp>
      <p:sp>
        <p:nvSpPr>
          <p:cNvPr id="13" name="Text 11"/>
          <p:cNvSpPr/>
          <p:nvPr/>
        </p:nvSpPr>
        <p:spPr>
          <a:xfrm>
            <a:off x="1280160" y="35661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b="1" noProof="0" dirty="0">
                <a:solidFill>
                  <a:srgbClr val="2E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Compromiso formal</a:t>
            </a:r>
            <a:endParaRPr lang="es-ES" sz="1400" noProof="0" dirty="0"/>
          </a:p>
        </p:txBody>
      </p:sp>
      <p:sp>
        <p:nvSpPr>
          <p:cNvPr id="14" name="Text 12"/>
          <p:cNvSpPr/>
          <p:nvPr/>
        </p:nvSpPr>
        <p:spPr>
          <a:xfrm>
            <a:off x="1280160" y="39776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200" noProof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Asumimos responsabilidad ética y legal de nunca ceder, comercializar ni vender tus datos</a:t>
            </a:r>
            <a:endParaRPr lang="es-ES" sz="12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4000" b="1" noProof="0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tranquilidad es lo más importante</a:t>
            </a:r>
            <a:endParaRPr lang="es-ES" sz="4000" noProof="0" dirty="0"/>
          </a:p>
        </p:txBody>
      </p:sp>
      <p:sp>
        <p:nvSpPr>
          <p:cNvPr id="3" name="Shape 1"/>
          <p:cNvSpPr/>
          <p:nvPr/>
        </p:nvSpPr>
        <p:spPr>
          <a:xfrm>
            <a:off x="2743200" y="2194560"/>
            <a:ext cx="3657600" cy="45720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4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para Preguntas</a:t>
            </a:r>
            <a:endParaRPr lang="es-ES" sz="2400" noProof="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400" i="1" noProof="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tecnología está para facilitarnos el trabajo, no para invadir tu privacidad. Si alguien quiere ver cómo funciona la aplicación a nivel técnico o revisar los permisos en su propio celular, lo hacemos juntos ahora mismo.</a:t>
            </a:r>
            <a:endParaRPr lang="es-ES" sz="1400" noProof="0" dirty="0"/>
          </a:p>
        </p:txBody>
      </p:sp>
      <p:sp>
        <p:nvSpPr>
          <p:cNvPr id="6" name="Text 4"/>
          <p:cNvSpPr/>
          <p:nvPr/>
        </p:nvSpPr>
        <p:spPr>
          <a:xfrm>
            <a:off x="2514600" y="4556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600" b="1" noProof="0" dirty="0" err="1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FaceControl</a:t>
            </a:r>
            <a:endParaRPr lang="es-ES" sz="16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590</Words>
  <Application>Microsoft Office PowerPoint</Application>
  <PresentationFormat>Presentación en pantalla (16:9)</PresentationFormat>
  <Paragraphs>85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 Privacidad es Nuestra Prioridad</dc:title>
  <dc:subject>PptxGenJS Presentation</dc:subject>
  <dc:creator>FaceControl</dc:creator>
  <cp:lastModifiedBy>MSO365</cp:lastModifiedBy>
  <cp:revision>6</cp:revision>
  <dcterms:created xsi:type="dcterms:W3CDTF">2026-04-16T22:17:02Z</dcterms:created>
  <dcterms:modified xsi:type="dcterms:W3CDTF">2026-04-17T20:20:47Z</dcterms:modified>
</cp:coreProperties>
</file>